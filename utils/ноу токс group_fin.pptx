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elios Extended Bold" panose="020B0604020202020204" charset="0"/>
      <p:regular r:id="rId20"/>
    </p:embeddedFont>
    <p:embeddedFont>
      <p:font typeface="Lato" panose="020B0604020202020204" charset="0"/>
      <p:regular r:id="rId21"/>
    </p:embeddedFont>
    <p:embeddedFont>
      <p:font typeface="Heebo Bold" panose="020B0604020202020204" charset="-79"/>
      <p:regular r:id="rId22"/>
    </p:embeddedFont>
    <p:embeddedFont>
      <p:font typeface="Lato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1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44078" y="1326430"/>
            <a:ext cx="21203378" cy="7634140"/>
            <a:chOff x="0" y="0"/>
            <a:chExt cx="1128752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8752" cy="406400"/>
            </a:xfrm>
            <a:custGeom>
              <a:avLst/>
              <a:gdLst/>
              <a:ahLst/>
              <a:cxnLst/>
              <a:rect l="l" t="t" r="r" b="b"/>
              <a:pathLst>
                <a:path w="1128752" h="406400">
                  <a:moveTo>
                    <a:pt x="925552" y="0"/>
                  </a:moveTo>
                  <a:cubicBezTo>
                    <a:pt x="1037776" y="0"/>
                    <a:pt x="1128752" y="90976"/>
                    <a:pt x="1128752" y="203200"/>
                  </a:cubicBezTo>
                  <a:cubicBezTo>
                    <a:pt x="1128752" y="315424"/>
                    <a:pt x="1037776" y="406400"/>
                    <a:pt x="925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2875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9009810"/>
            <a:ext cx="248490" cy="2484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010810" y="1028700"/>
            <a:ext cx="248490" cy="2484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00950" y="6932479"/>
            <a:ext cx="3086100" cy="804358"/>
            <a:chOff x="0" y="0"/>
            <a:chExt cx="812800" cy="2118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211847"/>
            </a:xfrm>
            <a:custGeom>
              <a:avLst/>
              <a:gdLst/>
              <a:ahLst/>
              <a:cxnLst/>
              <a:rect l="l" t="t" r="r" b="b"/>
              <a:pathLst>
                <a:path w="812800" h="211847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161675"/>
                  </a:lnTo>
                  <a:cubicBezTo>
                    <a:pt x="812800" y="174981"/>
                    <a:pt x="807514" y="187743"/>
                    <a:pt x="798105" y="197152"/>
                  </a:cubicBezTo>
                  <a:cubicBezTo>
                    <a:pt x="788695" y="206561"/>
                    <a:pt x="775934" y="211847"/>
                    <a:pt x="762627" y="211847"/>
                  </a:cubicBezTo>
                  <a:lnTo>
                    <a:pt x="50173" y="211847"/>
                  </a:lnTo>
                  <a:cubicBezTo>
                    <a:pt x="36866" y="211847"/>
                    <a:pt x="24105" y="206561"/>
                    <a:pt x="14695" y="197152"/>
                  </a:cubicBezTo>
                  <a:cubicBezTo>
                    <a:pt x="5286" y="187743"/>
                    <a:pt x="0" y="174981"/>
                    <a:pt x="0" y="161675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1E2A4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259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spc="219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 29 Sep, 2024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958126" y="4124733"/>
            <a:ext cx="12371749" cy="320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ГЕНЕРАЦИЯ ТЕГОВ ДЛЯ ВИДЕО</a:t>
            </a:r>
          </a:p>
          <a:p>
            <a:pPr marL="0" lvl="0" indent="0" algn="ctr">
              <a:lnSpc>
                <a:spcPts val="8400"/>
              </a:lnSpc>
            </a:pPr>
            <a:endParaRPr lang="en-US" sz="6000" b="1" spc="30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457372" y="376194"/>
            <a:ext cx="3753745" cy="652506"/>
          </a:xfrm>
          <a:custGeom>
            <a:avLst/>
            <a:gdLst/>
            <a:ahLst/>
            <a:cxnLst/>
            <a:rect l="l" t="t" r="r" b="b"/>
            <a:pathLst>
              <a:path w="3753745" h="652506">
                <a:moveTo>
                  <a:pt x="0" y="0"/>
                </a:moveTo>
                <a:lnTo>
                  <a:pt x="3753745" y="0"/>
                </a:lnTo>
                <a:lnTo>
                  <a:pt x="3753745" y="652506"/>
                </a:lnTo>
                <a:lnTo>
                  <a:pt x="0" y="652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958126" y="3268142"/>
            <a:ext cx="12371749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 spc="2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ноу токс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76124" y="0"/>
            <a:ext cx="13352049" cy="7634140"/>
            <a:chOff x="0" y="0"/>
            <a:chExt cx="71079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0790" cy="406400"/>
            </a:xfrm>
            <a:custGeom>
              <a:avLst/>
              <a:gdLst/>
              <a:ahLst/>
              <a:cxnLst/>
              <a:rect l="l" t="t" r="r" b="b"/>
              <a:pathLst>
                <a:path w="710790" h="406400">
                  <a:moveTo>
                    <a:pt x="507590" y="0"/>
                  </a:moveTo>
                  <a:cubicBezTo>
                    <a:pt x="619815" y="0"/>
                    <a:pt x="710790" y="90976"/>
                    <a:pt x="710790" y="203200"/>
                  </a:cubicBezTo>
                  <a:cubicBezTo>
                    <a:pt x="710790" y="315424"/>
                    <a:pt x="619815" y="406400"/>
                    <a:pt x="50759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71079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85135" y="1793231"/>
            <a:ext cx="2904228" cy="2566703"/>
            <a:chOff x="0" y="0"/>
            <a:chExt cx="516362" cy="4563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6362" cy="456352"/>
            </a:xfrm>
            <a:custGeom>
              <a:avLst/>
              <a:gdLst/>
              <a:ahLst/>
              <a:cxnLst/>
              <a:rect l="l" t="t" r="r" b="b"/>
              <a:pathLst>
                <a:path w="516362" h="456352">
                  <a:moveTo>
                    <a:pt x="0" y="0"/>
                  </a:moveTo>
                  <a:lnTo>
                    <a:pt x="516362" y="0"/>
                  </a:lnTo>
                  <a:lnTo>
                    <a:pt x="516362" y="456352"/>
                  </a:lnTo>
                  <a:lnTo>
                    <a:pt x="0" y="456352"/>
                  </a:lnTo>
                  <a:close/>
                </a:path>
              </a:pathLst>
            </a:custGeom>
            <a:blipFill>
              <a:blip r:embed="rId2"/>
              <a:stretch>
                <a:fillRect l="-35835" t="-38553" r="-90735" b="-11781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439856" y="1793231"/>
            <a:ext cx="2904228" cy="2566703"/>
            <a:chOff x="0" y="0"/>
            <a:chExt cx="516362" cy="4563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6362" cy="456352"/>
            </a:xfrm>
            <a:custGeom>
              <a:avLst/>
              <a:gdLst/>
              <a:ahLst/>
              <a:cxnLst/>
              <a:rect l="l" t="t" r="r" b="b"/>
              <a:pathLst>
                <a:path w="516362" h="456352">
                  <a:moveTo>
                    <a:pt x="0" y="0"/>
                  </a:moveTo>
                  <a:lnTo>
                    <a:pt x="516362" y="0"/>
                  </a:lnTo>
                  <a:lnTo>
                    <a:pt x="516362" y="456352"/>
                  </a:lnTo>
                  <a:lnTo>
                    <a:pt x="0" y="456352"/>
                  </a:lnTo>
                  <a:close/>
                </a:path>
              </a:pathLst>
            </a:custGeom>
            <a:blipFill>
              <a:blip r:embed="rId3"/>
              <a:stretch>
                <a:fillRect t="-28987" b="-28987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499792" y="1793231"/>
            <a:ext cx="2904228" cy="2566703"/>
            <a:chOff x="0" y="0"/>
            <a:chExt cx="516362" cy="4563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6362" cy="456352"/>
            </a:xfrm>
            <a:custGeom>
              <a:avLst/>
              <a:gdLst/>
              <a:ahLst/>
              <a:cxnLst/>
              <a:rect l="l" t="t" r="r" b="b"/>
              <a:pathLst>
                <a:path w="516362" h="456352">
                  <a:moveTo>
                    <a:pt x="0" y="0"/>
                  </a:moveTo>
                  <a:lnTo>
                    <a:pt x="516362" y="0"/>
                  </a:lnTo>
                  <a:lnTo>
                    <a:pt x="516362" y="456352"/>
                  </a:lnTo>
                  <a:lnTo>
                    <a:pt x="0" y="456352"/>
                  </a:lnTo>
                  <a:close/>
                </a:path>
              </a:pathLst>
            </a:custGeom>
            <a:blipFill>
              <a:blip r:embed="rId4"/>
              <a:stretch>
                <a:fillRect l="-15253" t="-24321" r="-12609" b="-6858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3412495" y="5911181"/>
            <a:ext cx="2904228" cy="2566703"/>
            <a:chOff x="0" y="0"/>
            <a:chExt cx="516362" cy="4563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6362" cy="456352"/>
            </a:xfrm>
            <a:custGeom>
              <a:avLst/>
              <a:gdLst/>
              <a:ahLst/>
              <a:cxnLst/>
              <a:rect l="l" t="t" r="r" b="b"/>
              <a:pathLst>
                <a:path w="516362" h="456352">
                  <a:moveTo>
                    <a:pt x="0" y="0"/>
                  </a:moveTo>
                  <a:lnTo>
                    <a:pt x="516362" y="0"/>
                  </a:lnTo>
                  <a:lnTo>
                    <a:pt x="516362" y="456352"/>
                  </a:lnTo>
                  <a:lnTo>
                    <a:pt x="0" y="456352"/>
                  </a:lnTo>
                  <a:close/>
                </a:path>
              </a:pathLst>
            </a:custGeom>
            <a:blipFill>
              <a:blip r:embed="rId5"/>
              <a:stretch>
                <a:fillRect t="-37107" r="-17159" b="-3994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7467216" y="5911181"/>
            <a:ext cx="2904228" cy="2566703"/>
            <a:chOff x="0" y="0"/>
            <a:chExt cx="516362" cy="4563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6362" cy="456352"/>
            </a:xfrm>
            <a:custGeom>
              <a:avLst/>
              <a:gdLst/>
              <a:ahLst/>
              <a:cxnLst/>
              <a:rect l="l" t="t" r="r" b="b"/>
              <a:pathLst>
                <a:path w="516362" h="456352">
                  <a:moveTo>
                    <a:pt x="0" y="0"/>
                  </a:moveTo>
                  <a:lnTo>
                    <a:pt x="516362" y="0"/>
                  </a:lnTo>
                  <a:lnTo>
                    <a:pt x="516362" y="456352"/>
                  </a:lnTo>
                  <a:lnTo>
                    <a:pt x="0" y="456352"/>
                  </a:lnTo>
                  <a:close/>
                </a:path>
              </a:pathLst>
            </a:custGeom>
            <a:blipFill>
              <a:blip r:embed="rId6"/>
              <a:stretch>
                <a:fillRect b="-50866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780210" y="780210"/>
            <a:ext cx="248490" cy="24849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259300" y="9333392"/>
            <a:ext cx="248490" cy="24849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7383545" y="5489372"/>
            <a:ext cx="0" cy="3768928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3056061" y="8635478"/>
            <a:ext cx="3617097" cy="40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33"/>
              </a:lnSpc>
            </a:pPr>
            <a:r>
              <a:rPr lang="en-US" sz="2381" b="1" spc="238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АРТЁМ ВОРОНИН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10782" y="8635478"/>
            <a:ext cx="4077359" cy="40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33"/>
              </a:lnSpc>
            </a:pPr>
            <a:r>
              <a:rPr lang="en-US" sz="2381" b="1" spc="238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ТАТЬЯНА ИРИНЧЕЕВА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56061" y="9024042"/>
            <a:ext cx="3617097" cy="4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8"/>
              </a:lnSpc>
            </a:pPr>
            <a:r>
              <a:rPr lang="en-US" sz="2267" spc="2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10782" y="9024042"/>
            <a:ext cx="3617097" cy="4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8"/>
              </a:lnSpc>
            </a:pPr>
            <a:r>
              <a:rPr lang="en-US" sz="2267" spc="2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ML engineer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4516755"/>
            <a:ext cx="3617097" cy="40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33"/>
              </a:lnSpc>
            </a:pPr>
            <a:r>
              <a:rPr lang="en-US" sz="2381" b="1" spc="238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АЛИНА САЛИМОВА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083421" y="4516755"/>
            <a:ext cx="3892703" cy="40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33"/>
              </a:lnSpc>
            </a:pPr>
            <a:r>
              <a:rPr lang="en-US" sz="2381" b="1" spc="238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АЛЕКСЕЙ ОСПЕНКОВ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4829713"/>
            <a:ext cx="3617097" cy="4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8"/>
              </a:lnSpc>
            </a:pPr>
            <a:r>
              <a:rPr lang="en-US" sz="2267" spc="2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ML engineer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83421" y="4829713"/>
            <a:ext cx="3617097" cy="4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8"/>
              </a:lnSpc>
            </a:pPr>
            <a:r>
              <a:rPr lang="en-US" sz="2267" spc="2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Analyst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3357" y="4516755"/>
            <a:ext cx="3617097" cy="82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3"/>
              </a:lnSpc>
            </a:pPr>
            <a:r>
              <a:rPr lang="en-US" sz="2381" b="1" spc="238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ОЛЕГ ДАНИЛИН</a:t>
            </a:r>
          </a:p>
          <a:p>
            <a:pPr marL="0" lvl="0" indent="0" algn="ctr">
              <a:lnSpc>
                <a:spcPts val="3333"/>
              </a:lnSpc>
            </a:pPr>
            <a:endParaRPr lang="en-US" sz="2381" b="1" spc="238">
              <a:solidFill>
                <a:srgbClr val="4E6E81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143357" y="4829713"/>
            <a:ext cx="3617097" cy="433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28"/>
              </a:lnSpc>
            </a:pPr>
            <a:r>
              <a:rPr lang="en-US" sz="2267" spc="22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ML engineer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54239" y="2000258"/>
            <a:ext cx="6410123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TEAM</a:t>
            </a:r>
          </a:p>
        </p:txBody>
      </p:sp>
      <p:sp>
        <p:nvSpPr>
          <p:cNvPr id="33" name="TextBox 33"/>
          <p:cNvSpPr txBox="1"/>
          <p:nvPr/>
        </p:nvSpPr>
        <p:spPr>
          <a:xfrm rot="-5400000">
            <a:off x="14826959" y="6961108"/>
            <a:ext cx="4249949" cy="61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2"/>
              </a:lnSpc>
              <a:spcBef>
                <a:spcPct val="0"/>
              </a:spcBef>
            </a:pPr>
            <a:r>
              <a:rPr lang="en-US" sz="3608" b="1" spc="36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ноу токс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9470" y="1353860"/>
            <a:ext cx="15529061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ПОСТАНОВКА ЗАДАЧИ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79470" y="4797280"/>
            <a:ext cx="4775418" cy="141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</a:pPr>
            <a:r>
              <a:rPr lang="en-US" sz="8000" b="1" spc="400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56291" y="4797280"/>
            <a:ext cx="4775418" cy="141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</a:pPr>
            <a:r>
              <a:rPr lang="en-US" sz="8000" b="1" spc="400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9470" y="2535495"/>
            <a:ext cx="15529061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  <a:spcBef>
                <a:spcPct val="0"/>
              </a:spcBef>
            </a:pPr>
            <a:r>
              <a:rPr lang="en-US" sz="2299" spc="2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Необходимо разработать систему для тегирования видео, основываясь на их содержании, названии и описании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9470" y="6597161"/>
            <a:ext cx="4775418" cy="859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19"/>
              </a:lnSpc>
            </a:pPr>
            <a:r>
              <a:rPr lang="en-US" sz="2199" spc="21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Универсальный список тегов задан изначально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56291" y="6597161"/>
            <a:ext cx="4775418" cy="1297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19"/>
              </a:lnSpc>
            </a:pPr>
            <a:r>
              <a:rPr lang="en-US" sz="2199" spc="21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Видео может иметь тег родительской категории и тег подкатегории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33113" y="6597161"/>
            <a:ext cx="4775418" cy="2174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199" spc="21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Каждое видео может содержать несколько тегов из различных тематик</a:t>
            </a:r>
          </a:p>
          <a:p>
            <a:pPr algn="ctr">
              <a:lnSpc>
                <a:spcPts val="3519"/>
              </a:lnSpc>
            </a:pPr>
            <a:endParaRPr lang="en-US" sz="2199" spc="219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>
              <a:lnSpc>
                <a:spcPts val="3519"/>
              </a:lnSpc>
            </a:pPr>
            <a:endParaRPr lang="en-US" sz="2199" spc="219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133113" y="4797280"/>
            <a:ext cx="4775418" cy="141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</a:pPr>
            <a:r>
              <a:rPr lang="en-US" sz="8000" b="1" spc="400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03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9009810"/>
            <a:ext cx="248490" cy="24849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010810" y="1028700"/>
            <a:ext cx="248490" cy="24849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 flipH="1">
            <a:off x="1033463" y="0"/>
            <a:ext cx="0" cy="3334176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210" y="780210"/>
            <a:ext cx="248490" cy="2484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78494" y="4599246"/>
            <a:ext cx="4180115" cy="2508069"/>
          </a:xfrm>
          <a:custGeom>
            <a:avLst/>
            <a:gdLst/>
            <a:ahLst/>
            <a:cxnLst/>
            <a:rect l="l" t="t" r="r" b="b"/>
            <a:pathLst>
              <a:path w="4180115" h="2508069">
                <a:moveTo>
                  <a:pt x="0" y="0"/>
                </a:moveTo>
                <a:lnTo>
                  <a:pt x="4180116" y="0"/>
                </a:lnTo>
                <a:lnTo>
                  <a:pt x="4180116" y="2508069"/>
                </a:lnTo>
                <a:lnTo>
                  <a:pt x="0" y="250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2468552" y="7107315"/>
            <a:ext cx="4695457" cy="73108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" name="AutoShape 7"/>
          <p:cNvSpPr/>
          <p:nvPr/>
        </p:nvSpPr>
        <p:spPr>
          <a:xfrm flipV="1">
            <a:off x="2468552" y="3899690"/>
            <a:ext cx="4695457" cy="6995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8" name="Group 8"/>
          <p:cNvGrpSpPr/>
          <p:nvPr/>
        </p:nvGrpSpPr>
        <p:grpSpPr>
          <a:xfrm>
            <a:off x="6657972" y="3899690"/>
            <a:ext cx="1012074" cy="3938707"/>
            <a:chOff x="0" y="0"/>
            <a:chExt cx="644274" cy="250733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4274" cy="2507335"/>
            </a:xfrm>
            <a:custGeom>
              <a:avLst/>
              <a:gdLst/>
              <a:ahLst/>
              <a:cxnLst/>
              <a:rect l="l" t="t" r="r" b="b"/>
              <a:pathLst>
                <a:path w="644274" h="2507335">
                  <a:moveTo>
                    <a:pt x="193630" y="0"/>
                  </a:moveTo>
                  <a:lnTo>
                    <a:pt x="450645" y="0"/>
                  </a:lnTo>
                  <a:cubicBezTo>
                    <a:pt x="557584" y="0"/>
                    <a:pt x="644274" y="86691"/>
                    <a:pt x="644274" y="193630"/>
                  </a:cubicBezTo>
                  <a:lnTo>
                    <a:pt x="644274" y="2313706"/>
                  </a:lnTo>
                  <a:cubicBezTo>
                    <a:pt x="644274" y="2365060"/>
                    <a:pt x="623874" y="2414310"/>
                    <a:pt x="587562" y="2450623"/>
                  </a:cubicBezTo>
                  <a:cubicBezTo>
                    <a:pt x="551249" y="2486935"/>
                    <a:pt x="501999" y="2507335"/>
                    <a:pt x="450645" y="2507335"/>
                  </a:cubicBezTo>
                  <a:lnTo>
                    <a:pt x="193630" y="2507335"/>
                  </a:lnTo>
                  <a:cubicBezTo>
                    <a:pt x="86691" y="2507335"/>
                    <a:pt x="0" y="2420644"/>
                    <a:pt x="0" y="2313706"/>
                  </a:cubicBezTo>
                  <a:lnTo>
                    <a:pt x="0" y="193630"/>
                  </a:lnTo>
                  <a:cubicBezTo>
                    <a:pt x="0" y="86691"/>
                    <a:pt x="86691" y="0"/>
                    <a:pt x="193630" y="0"/>
                  </a:cubicBezTo>
                  <a:close/>
                </a:path>
              </a:pathLst>
            </a:custGeom>
            <a:solidFill>
              <a:srgbClr val="A0A1A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644274" cy="2554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4558610" y="5869043"/>
            <a:ext cx="209936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2" name="Group 12"/>
          <p:cNvGrpSpPr/>
          <p:nvPr/>
        </p:nvGrpSpPr>
        <p:grpSpPr>
          <a:xfrm>
            <a:off x="8222496" y="2389015"/>
            <a:ext cx="6186398" cy="6998157"/>
            <a:chOff x="0" y="0"/>
            <a:chExt cx="1629339" cy="18431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9340" cy="1843136"/>
            </a:xfrm>
            <a:custGeom>
              <a:avLst/>
              <a:gdLst/>
              <a:ahLst/>
              <a:cxnLst/>
              <a:rect l="l" t="t" r="r" b="b"/>
              <a:pathLst>
                <a:path w="1629340" h="1843136">
                  <a:moveTo>
                    <a:pt x="63824" y="0"/>
                  </a:moveTo>
                  <a:lnTo>
                    <a:pt x="1565516" y="0"/>
                  </a:lnTo>
                  <a:cubicBezTo>
                    <a:pt x="1600765" y="0"/>
                    <a:pt x="1629340" y="28575"/>
                    <a:pt x="1629340" y="63824"/>
                  </a:cubicBezTo>
                  <a:lnTo>
                    <a:pt x="1629340" y="1779313"/>
                  </a:lnTo>
                  <a:cubicBezTo>
                    <a:pt x="1629340" y="1796240"/>
                    <a:pt x="1622615" y="1812473"/>
                    <a:pt x="1610646" y="1824443"/>
                  </a:cubicBezTo>
                  <a:cubicBezTo>
                    <a:pt x="1598677" y="1836412"/>
                    <a:pt x="1582443" y="1843136"/>
                    <a:pt x="1565516" y="1843136"/>
                  </a:cubicBezTo>
                  <a:lnTo>
                    <a:pt x="63824" y="1843136"/>
                  </a:lnTo>
                  <a:cubicBezTo>
                    <a:pt x="28575" y="1843136"/>
                    <a:pt x="0" y="1814561"/>
                    <a:pt x="0" y="1779313"/>
                  </a:cubicBezTo>
                  <a:lnTo>
                    <a:pt x="0" y="63824"/>
                  </a:lnTo>
                  <a:cubicBezTo>
                    <a:pt x="0" y="28575"/>
                    <a:pt x="28575" y="0"/>
                    <a:pt x="63824" y="0"/>
                  </a:cubicBezTo>
                  <a:close/>
                </a:path>
              </a:pathLst>
            </a:custGeom>
            <a:solidFill>
              <a:srgbClr val="F4C01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1629339" cy="1919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endParaRPr/>
            </a:p>
            <a:p>
              <a:pPr algn="ctr">
                <a:lnSpc>
                  <a:spcPts val="5039"/>
                </a:lnSpc>
              </a:pPr>
              <a:endParaRPr/>
            </a:p>
            <a:p>
              <a:pPr algn="ctr">
                <a:lnSpc>
                  <a:spcPts val="5039"/>
                </a:lnSpc>
              </a:pPr>
              <a:endParaRPr/>
            </a:p>
            <a:p>
              <a:pPr algn="ctr">
                <a:lnSpc>
                  <a:spcPts val="5039"/>
                </a:lnSpc>
              </a:pPr>
              <a:endParaRPr/>
            </a:p>
            <a:p>
              <a:pPr algn="ctr">
                <a:lnSpc>
                  <a:spcPts val="503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939265" y="5132332"/>
            <a:ext cx="3086100" cy="1543050"/>
            <a:chOff x="0" y="0"/>
            <a:chExt cx="81280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78459"/>
                  </a:lnTo>
                  <a:cubicBezTo>
                    <a:pt x="812800" y="312391"/>
                    <a:pt x="799321" y="344933"/>
                    <a:pt x="775327" y="368927"/>
                  </a:cubicBezTo>
                  <a:cubicBezTo>
                    <a:pt x="751333" y="392921"/>
                    <a:pt x="718791" y="406400"/>
                    <a:pt x="684859" y="406400"/>
                  </a:cubicBezTo>
                  <a:lnTo>
                    <a:pt x="127941" y="406400"/>
                  </a:lnTo>
                  <a:cubicBezTo>
                    <a:pt x="94009" y="406400"/>
                    <a:pt x="61467" y="392921"/>
                    <a:pt x="37473" y="368927"/>
                  </a:cubicBezTo>
                  <a:cubicBezTo>
                    <a:pt x="13479" y="344933"/>
                    <a:pt x="0" y="312391"/>
                    <a:pt x="0" y="2784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1E2A4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812800" cy="48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79"/>
                </a:lnSpc>
              </a:pPr>
              <a:r>
                <a:rPr lang="en-US" sz="3699" b="1" spc="369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tags list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420658" y="618285"/>
            <a:ext cx="1302799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АРХИТЕКТУРА РЕШЕНИЯ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39621" y="7666567"/>
            <a:ext cx="966788" cy="43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1"/>
              </a:lnSpc>
              <a:spcBef>
                <a:spcPct val="0"/>
              </a:spcBef>
            </a:pPr>
            <a:r>
              <a:rPr lang="en-US" sz="2565" b="1" spc="25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audio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21263" y="3563100"/>
            <a:ext cx="3169325" cy="43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1"/>
              </a:lnSpc>
              <a:spcBef>
                <a:spcPct val="0"/>
              </a:spcBef>
            </a:pPr>
            <a:r>
              <a:rPr lang="en-US" sz="2565" b="1" spc="25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title + description</a:t>
            </a:r>
          </a:p>
        </p:txBody>
      </p:sp>
      <p:sp>
        <p:nvSpPr>
          <p:cNvPr id="21" name="TextBox 21"/>
          <p:cNvSpPr txBox="1"/>
          <p:nvPr/>
        </p:nvSpPr>
        <p:spPr>
          <a:xfrm rot="-5400000">
            <a:off x="5223948" y="5542446"/>
            <a:ext cx="3748451" cy="653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2"/>
              </a:lnSpc>
              <a:spcBef>
                <a:spcPct val="0"/>
              </a:spcBef>
            </a:pPr>
            <a:r>
              <a:rPr lang="en-US" sz="3723" b="1" spc="37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embedding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13198" y="5311395"/>
            <a:ext cx="1205508" cy="43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1"/>
              </a:lnSpc>
              <a:spcBef>
                <a:spcPct val="0"/>
              </a:spcBef>
            </a:pPr>
            <a:r>
              <a:rPr lang="en-US" sz="2565" b="1" spc="25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images</a:t>
            </a:r>
          </a:p>
        </p:txBody>
      </p:sp>
      <p:sp>
        <p:nvSpPr>
          <p:cNvPr id="23" name="AutoShape 23"/>
          <p:cNvSpPr/>
          <p:nvPr/>
        </p:nvSpPr>
        <p:spPr>
          <a:xfrm flipV="1">
            <a:off x="7670046" y="5888093"/>
            <a:ext cx="55245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4" name="AutoShape 24"/>
          <p:cNvSpPr/>
          <p:nvPr/>
        </p:nvSpPr>
        <p:spPr>
          <a:xfrm>
            <a:off x="14408894" y="5888093"/>
            <a:ext cx="530371" cy="1576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5" name="TextBox 25"/>
          <p:cNvSpPr txBox="1"/>
          <p:nvPr/>
        </p:nvSpPr>
        <p:spPr>
          <a:xfrm>
            <a:off x="9070730" y="2744307"/>
            <a:ext cx="5020301" cy="750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3"/>
              </a:lnSpc>
            </a:pPr>
            <a:r>
              <a:rPr lang="en-US" sz="4508" b="1" spc="45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CNN</a:t>
            </a:r>
          </a:p>
          <a:p>
            <a:pPr algn="l">
              <a:lnSpc>
                <a:spcPts val="4753"/>
              </a:lnSpc>
            </a:pPr>
            <a:r>
              <a:rPr lang="en-US" sz="2970" b="1" u="sng" spc="297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Теги 1 уровня:</a:t>
            </a:r>
          </a:p>
          <a:p>
            <a:pPr algn="l">
              <a:lnSpc>
                <a:spcPts val="4753"/>
              </a:lnSpc>
            </a:pPr>
            <a:r>
              <a:rPr lang="en-US" sz="2970" spc="29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Conv1D, ядра: 3, 4, 5</a:t>
            </a:r>
          </a:p>
          <a:p>
            <a:pPr algn="l">
              <a:lnSpc>
                <a:spcPts val="4753"/>
              </a:lnSpc>
            </a:pPr>
            <a:r>
              <a:rPr lang="en-US" sz="2970" spc="29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ReLU - Max Pooling -Dropout - FCL</a:t>
            </a:r>
          </a:p>
          <a:p>
            <a:pPr algn="l">
              <a:lnSpc>
                <a:spcPts val="4753"/>
              </a:lnSpc>
            </a:pPr>
            <a:endParaRPr lang="en-US" sz="2970" spc="297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4753"/>
              </a:lnSpc>
            </a:pPr>
            <a:r>
              <a:rPr lang="en-US" sz="2970" b="1" u="sng" spc="297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Теги 2 уровня:</a:t>
            </a:r>
          </a:p>
          <a:p>
            <a:pPr algn="l">
              <a:lnSpc>
                <a:spcPts val="4753"/>
              </a:lnSpc>
            </a:pPr>
            <a:r>
              <a:rPr lang="en-US" sz="2970" spc="29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аналогично, учитывая предсказания 1 уровня</a:t>
            </a:r>
          </a:p>
          <a:p>
            <a:pPr algn="l">
              <a:lnSpc>
                <a:spcPts val="4753"/>
              </a:lnSpc>
            </a:pPr>
            <a:endParaRPr lang="en-US" sz="2970" spc="297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l">
              <a:lnSpc>
                <a:spcPts val="4753"/>
              </a:lnSpc>
            </a:pPr>
            <a:endParaRPr lang="en-US" sz="2970" spc="297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>
              <a:lnSpc>
                <a:spcPts val="4753"/>
              </a:lnSpc>
            </a:pPr>
            <a:endParaRPr lang="en-US" sz="2970" spc="297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144000" y="9530035"/>
            <a:ext cx="413527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spc="23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Loss: BCEWithLogitsLoss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60437" y="2489037"/>
            <a:ext cx="2090976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spc="23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DeepPavlov/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spc="23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Rubert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0043" y="0"/>
            <a:ext cx="0" cy="3768928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7010810" y="9258300"/>
            <a:ext cx="248490" cy="24849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056096" y="6044537"/>
            <a:ext cx="4175808" cy="2674895"/>
          </a:xfrm>
          <a:custGeom>
            <a:avLst/>
            <a:gdLst/>
            <a:ahLst/>
            <a:cxnLst/>
            <a:rect l="l" t="t" r="r" b="b"/>
            <a:pathLst>
              <a:path w="4175808" h="2674895">
                <a:moveTo>
                  <a:pt x="0" y="0"/>
                </a:moveTo>
                <a:lnTo>
                  <a:pt x="4175808" y="0"/>
                </a:lnTo>
                <a:lnTo>
                  <a:pt x="4175808" y="2674895"/>
                </a:lnTo>
                <a:lnTo>
                  <a:pt x="0" y="2674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19376" y="8257570"/>
            <a:ext cx="3803962" cy="1016727"/>
          </a:xfrm>
          <a:custGeom>
            <a:avLst/>
            <a:gdLst/>
            <a:ahLst/>
            <a:cxnLst/>
            <a:rect l="l" t="t" r="r" b="b"/>
            <a:pathLst>
              <a:path w="3803962" h="1016727">
                <a:moveTo>
                  <a:pt x="0" y="0"/>
                </a:moveTo>
                <a:lnTo>
                  <a:pt x="3803962" y="0"/>
                </a:lnTo>
                <a:lnTo>
                  <a:pt x="3803962" y="1016727"/>
                </a:lnTo>
                <a:lnTo>
                  <a:pt x="0" y="1016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568408" y="2403174"/>
            <a:ext cx="6045540" cy="3400616"/>
          </a:xfrm>
          <a:custGeom>
            <a:avLst/>
            <a:gdLst/>
            <a:ahLst/>
            <a:cxnLst/>
            <a:rect l="l" t="t" r="r" b="b"/>
            <a:pathLst>
              <a:path w="6045540" h="3400616">
                <a:moveTo>
                  <a:pt x="0" y="0"/>
                </a:moveTo>
                <a:lnTo>
                  <a:pt x="6045540" y="0"/>
                </a:lnTo>
                <a:lnTo>
                  <a:pt x="6045540" y="3400617"/>
                </a:lnTo>
                <a:lnTo>
                  <a:pt x="0" y="3400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91895" y="6643127"/>
            <a:ext cx="3386284" cy="1358340"/>
          </a:xfrm>
          <a:custGeom>
            <a:avLst/>
            <a:gdLst/>
            <a:ahLst/>
            <a:cxnLst/>
            <a:rect l="l" t="t" r="r" b="b"/>
            <a:pathLst>
              <a:path w="3386284" h="1358340">
                <a:moveTo>
                  <a:pt x="0" y="0"/>
                </a:moveTo>
                <a:lnTo>
                  <a:pt x="3386284" y="0"/>
                </a:lnTo>
                <a:lnTo>
                  <a:pt x="3386284" y="1358340"/>
                </a:lnTo>
                <a:lnTo>
                  <a:pt x="0" y="1358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554147" y="7853612"/>
            <a:ext cx="2831356" cy="1528932"/>
          </a:xfrm>
          <a:custGeom>
            <a:avLst/>
            <a:gdLst/>
            <a:ahLst/>
            <a:cxnLst/>
            <a:rect l="l" t="t" r="r" b="b"/>
            <a:pathLst>
              <a:path w="2831356" h="1528932">
                <a:moveTo>
                  <a:pt x="0" y="0"/>
                </a:moveTo>
                <a:lnTo>
                  <a:pt x="2831356" y="0"/>
                </a:lnTo>
                <a:lnTo>
                  <a:pt x="2831356" y="1528933"/>
                </a:lnTo>
                <a:lnTo>
                  <a:pt x="0" y="1528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888356" y="2579962"/>
            <a:ext cx="3522880" cy="2225824"/>
          </a:xfrm>
          <a:custGeom>
            <a:avLst/>
            <a:gdLst/>
            <a:ahLst/>
            <a:cxnLst/>
            <a:rect l="l" t="t" r="r" b="b"/>
            <a:pathLst>
              <a:path w="3522880" h="2225824">
                <a:moveTo>
                  <a:pt x="0" y="0"/>
                </a:moveTo>
                <a:lnTo>
                  <a:pt x="3522880" y="0"/>
                </a:lnTo>
                <a:lnTo>
                  <a:pt x="3522880" y="2225824"/>
                </a:lnTo>
                <a:lnTo>
                  <a:pt x="0" y="22258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2070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441726" y="5721123"/>
            <a:ext cx="2943777" cy="1011923"/>
          </a:xfrm>
          <a:custGeom>
            <a:avLst/>
            <a:gdLst/>
            <a:ahLst/>
            <a:cxnLst/>
            <a:rect l="l" t="t" r="r" b="b"/>
            <a:pathLst>
              <a:path w="2943777" h="1011923">
                <a:moveTo>
                  <a:pt x="0" y="0"/>
                </a:moveTo>
                <a:lnTo>
                  <a:pt x="2943777" y="0"/>
                </a:lnTo>
                <a:lnTo>
                  <a:pt x="2943777" y="1011923"/>
                </a:lnTo>
                <a:lnTo>
                  <a:pt x="0" y="10119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05137" y="3605142"/>
            <a:ext cx="1858343" cy="2198648"/>
          </a:xfrm>
          <a:custGeom>
            <a:avLst/>
            <a:gdLst/>
            <a:ahLst/>
            <a:cxnLst/>
            <a:rect l="l" t="t" r="r" b="b"/>
            <a:pathLst>
              <a:path w="1858343" h="2198648">
                <a:moveTo>
                  <a:pt x="0" y="0"/>
                </a:moveTo>
                <a:lnTo>
                  <a:pt x="1858343" y="0"/>
                </a:lnTo>
                <a:lnTo>
                  <a:pt x="1858343" y="2198649"/>
                </a:lnTo>
                <a:lnTo>
                  <a:pt x="0" y="21986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0511" r="-56575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623563" y="2074621"/>
            <a:ext cx="3947236" cy="2629846"/>
          </a:xfrm>
          <a:custGeom>
            <a:avLst/>
            <a:gdLst/>
            <a:ahLst/>
            <a:cxnLst/>
            <a:rect l="l" t="t" r="r" b="b"/>
            <a:pathLst>
              <a:path w="3947236" h="2629846">
                <a:moveTo>
                  <a:pt x="0" y="0"/>
                </a:moveTo>
                <a:lnTo>
                  <a:pt x="3947236" y="0"/>
                </a:lnTo>
                <a:lnTo>
                  <a:pt x="3947236" y="2629845"/>
                </a:lnTo>
                <a:lnTo>
                  <a:pt x="0" y="26298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453686" y="5250827"/>
            <a:ext cx="4997056" cy="2131157"/>
          </a:xfrm>
          <a:custGeom>
            <a:avLst/>
            <a:gdLst/>
            <a:ahLst/>
            <a:cxnLst/>
            <a:rect l="l" t="t" r="r" b="b"/>
            <a:pathLst>
              <a:path w="4997056" h="2131157">
                <a:moveTo>
                  <a:pt x="0" y="0"/>
                </a:moveTo>
                <a:lnTo>
                  <a:pt x="4997056" y="0"/>
                </a:lnTo>
                <a:lnTo>
                  <a:pt x="4997056" y="2131157"/>
                </a:lnTo>
                <a:lnTo>
                  <a:pt x="0" y="213115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7596" t="-32107" r="-40674" b="-39523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498514" y="452206"/>
            <a:ext cx="17260501" cy="179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</a:pPr>
            <a:r>
              <a:rPr lang="en-US" sz="5000" b="1" spc="25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ИСПОЛЬЗУЕМЫЕ ИНСТРУМЕНТЫ И ФРЕЙМВОРКИ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210" y="780210"/>
            <a:ext cx="248490" cy="2484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15751" y="3849049"/>
            <a:ext cx="9004880" cy="2588903"/>
          </a:xfrm>
          <a:custGeom>
            <a:avLst/>
            <a:gdLst/>
            <a:ahLst/>
            <a:cxnLst/>
            <a:rect l="l" t="t" r="r" b="b"/>
            <a:pathLst>
              <a:path w="9004880" h="2588903">
                <a:moveTo>
                  <a:pt x="0" y="0"/>
                </a:moveTo>
                <a:lnTo>
                  <a:pt x="9004880" y="0"/>
                </a:lnTo>
                <a:lnTo>
                  <a:pt x="9004880" y="2588902"/>
                </a:lnTo>
                <a:lnTo>
                  <a:pt x="0" y="2588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64410" y="5143500"/>
            <a:ext cx="5024365" cy="3290959"/>
          </a:xfrm>
          <a:custGeom>
            <a:avLst/>
            <a:gdLst/>
            <a:ahLst/>
            <a:cxnLst/>
            <a:rect l="l" t="t" r="r" b="b"/>
            <a:pathLst>
              <a:path w="5024365" h="3290959">
                <a:moveTo>
                  <a:pt x="0" y="0"/>
                </a:moveTo>
                <a:lnTo>
                  <a:pt x="5024365" y="0"/>
                </a:lnTo>
                <a:lnTo>
                  <a:pt x="5024365" y="3290959"/>
                </a:lnTo>
                <a:lnTo>
                  <a:pt x="0" y="3290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 flipV="1">
            <a:off x="6888775" y="5143500"/>
            <a:ext cx="1626976" cy="16454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8" name="Group 8"/>
          <p:cNvGrpSpPr/>
          <p:nvPr/>
        </p:nvGrpSpPr>
        <p:grpSpPr>
          <a:xfrm>
            <a:off x="11167861" y="8052237"/>
            <a:ext cx="3086100" cy="1447728"/>
            <a:chOff x="0" y="0"/>
            <a:chExt cx="812800" cy="38129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381295"/>
            </a:xfrm>
            <a:custGeom>
              <a:avLst/>
              <a:gdLst/>
              <a:ahLst/>
              <a:cxnLst/>
              <a:rect l="l" t="t" r="r" b="b"/>
              <a:pathLst>
                <a:path w="812800" h="381295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53354"/>
                  </a:lnTo>
                  <a:cubicBezTo>
                    <a:pt x="812800" y="287286"/>
                    <a:pt x="799321" y="319828"/>
                    <a:pt x="775327" y="343822"/>
                  </a:cubicBezTo>
                  <a:cubicBezTo>
                    <a:pt x="751333" y="367815"/>
                    <a:pt x="718791" y="381295"/>
                    <a:pt x="684859" y="381295"/>
                  </a:cubicBezTo>
                  <a:lnTo>
                    <a:pt x="127941" y="381295"/>
                  </a:lnTo>
                  <a:cubicBezTo>
                    <a:pt x="94009" y="381295"/>
                    <a:pt x="61467" y="367815"/>
                    <a:pt x="37473" y="343822"/>
                  </a:cubicBezTo>
                  <a:cubicBezTo>
                    <a:pt x="13479" y="319828"/>
                    <a:pt x="0" y="287286"/>
                    <a:pt x="0" y="25335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21104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428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spc="239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logits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2443660" y="711136"/>
            <a:ext cx="1932933" cy="2215439"/>
          </a:xfrm>
          <a:custGeom>
            <a:avLst/>
            <a:gdLst/>
            <a:ahLst/>
            <a:cxnLst/>
            <a:rect l="l" t="t" r="r" b="b"/>
            <a:pathLst>
              <a:path w="1932933" h="2215439">
                <a:moveTo>
                  <a:pt x="0" y="0"/>
                </a:moveTo>
                <a:lnTo>
                  <a:pt x="1932933" y="0"/>
                </a:lnTo>
                <a:lnTo>
                  <a:pt x="1932933" y="2215438"/>
                </a:lnTo>
                <a:lnTo>
                  <a:pt x="0" y="2215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595668" y="866775"/>
            <a:ext cx="14378197" cy="117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70"/>
              </a:lnSpc>
            </a:pPr>
            <a:r>
              <a:rPr lang="en-US" sz="6621" b="1" spc="331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YAMNET</a:t>
            </a:r>
          </a:p>
        </p:txBody>
      </p:sp>
      <p:sp>
        <p:nvSpPr>
          <p:cNvPr id="13" name="AutoShape 13"/>
          <p:cNvSpPr/>
          <p:nvPr/>
        </p:nvSpPr>
        <p:spPr>
          <a:xfrm flipH="1">
            <a:off x="1864410" y="2926574"/>
            <a:ext cx="1545716" cy="38624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AutoShape 14"/>
          <p:cNvSpPr/>
          <p:nvPr/>
        </p:nvSpPr>
        <p:spPr>
          <a:xfrm flipH="1">
            <a:off x="12710911" y="6437951"/>
            <a:ext cx="307280" cy="16142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210" y="780210"/>
            <a:ext cx="248490" cy="2484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04455" y="4616652"/>
            <a:ext cx="4180115" cy="2508069"/>
          </a:xfrm>
          <a:custGeom>
            <a:avLst/>
            <a:gdLst/>
            <a:ahLst/>
            <a:cxnLst/>
            <a:rect l="l" t="t" r="r" b="b"/>
            <a:pathLst>
              <a:path w="4180115" h="2508069">
                <a:moveTo>
                  <a:pt x="0" y="0"/>
                </a:moveTo>
                <a:lnTo>
                  <a:pt x="4180116" y="0"/>
                </a:lnTo>
                <a:lnTo>
                  <a:pt x="4180116" y="2508070"/>
                </a:lnTo>
                <a:lnTo>
                  <a:pt x="0" y="250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247226" y="3917096"/>
            <a:ext cx="1012074" cy="3938707"/>
            <a:chOff x="0" y="0"/>
            <a:chExt cx="644274" cy="25073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4274" cy="2507335"/>
            </a:xfrm>
            <a:custGeom>
              <a:avLst/>
              <a:gdLst/>
              <a:ahLst/>
              <a:cxnLst/>
              <a:rect l="l" t="t" r="r" b="b"/>
              <a:pathLst>
                <a:path w="644274" h="2507335">
                  <a:moveTo>
                    <a:pt x="193630" y="0"/>
                  </a:moveTo>
                  <a:lnTo>
                    <a:pt x="450645" y="0"/>
                  </a:lnTo>
                  <a:cubicBezTo>
                    <a:pt x="557584" y="0"/>
                    <a:pt x="644274" y="86691"/>
                    <a:pt x="644274" y="193630"/>
                  </a:cubicBezTo>
                  <a:lnTo>
                    <a:pt x="644274" y="2313706"/>
                  </a:lnTo>
                  <a:cubicBezTo>
                    <a:pt x="644274" y="2365060"/>
                    <a:pt x="623874" y="2414310"/>
                    <a:pt x="587562" y="2450623"/>
                  </a:cubicBezTo>
                  <a:cubicBezTo>
                    <a:pt x="551249" y="2486935"/>
                    <a:pt x="501999" y="2507335"/>
                    <a:pt x="450645" y="2507335"/>
                  </a:cubicBezTo>
                  <a:lnTo>
                    <a:pt x="193630" y="2507335"/>
                  </a:lnTo>
                  <a:cubicBezTo>
                    <a:pt x="86691" y="2507335"/>
                    <a:pt x="0" y="2420644"/>
                    <a:pt x="0" y="2313706"/>
                  </a:cubicBezTo>
                  <a:lnTo>
                    <a:pt x="0" y="193630"/>
                  </a:lnTo>
                  <a:cubicBezTo>
                    <a:pt x="0" y="86691"/>
                    <a:pt x="86691" y="0"/>
                    <a:pt x="193630" y="0"/>
                  </a:cubicBezTo>
                  <a:close/>
                </a:path>
              </a:pathLst>
            </a:custGeom>
            <a:solidFill>
              <a:srgbClr val="A0A1A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44274" cy="2554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5084571" y="5900738"/>
            <a:ext cx="10933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Freeform 10"/>
          <p:cNvSpPr/>
          <p:nvPr/>
        </p:nvSpPr>
        <p:spPr>
          <a:xfrm>
            <a:off x="6391805" y="2683653"/>
            <a:ext cx="2962017" cy="1974678"/>
          </a:xfrm>
          <a:custGeom>
            <a:avLst/>
            <a:gdLst/>
            <a:ahLst/>
            <a:cxnLst/>
            <a:rect l="l" t="t" r="r" b="b"/>
            <a:pathLst>
              <a:path w="2962017" h="1974678">
                <a:moveTo>
                  <a:pt x="0" y="0"/>
                </a:moveTo>
                <a:lnTo>
                  <a:pt x="2962017" y="0"/>
                </a:lnTo>
                <a:lnTo>
                  <a:pt x="2962017" y="1974679"/>
                </a:lnTo>
                <a:lnTo>
                  <a:pt x="0" y="1974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391805" y="3868566"/>
            <a:ext cx="2962017" cy="1974678"/>
          </a:xfrm>
          <a:custGeom>
            <a:avLst/>
            <a:gdLst/>
            <a:ahLst/>
            <a:cxnLst/>
            <a:rect l="l" t="t" r="r" b="b"/>
            <a:pathLst>
              <a:path w="2962017" h="1974678">
                <a:moveTo>
                  <a:pt x="0" y="0"/>
                </a:moveTo>
                <a:lnTo>
                  <a:pt x="2962017" y="0"/>
                </a:lnTo>
                <a:lnTo>
                  <a:pt x="2962017" y="1974678"/>
                </a:lnTo>
                <a:lnTo>
                  <a:pt x="0" y="1974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6666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91805" y="5115532"/>
            <a:ext cx="2962017" cy="2220918"/>
          </a:xfrm>
          <a:custGeom>
            <a:avLst/>
            <a:gdLst/>
            <a:ahLst/>
            <a:cxnLst/>
            <a:rect l="l" t="t" r="r" b="b"/>
            <a:pathLst>
              <a:path w="2962017" h="2220918">
                <a:moveTo>
                  <a:pt x="0" y="0"/>
                </a:moveTo>
                <a:lnTo>
                  <a:pt x="2962017" y="0"/>
                </a:lnTo>
                <a:lnTo>
                  <a:pt x="2962017" y="2220918"/>
                </a:lnTo>
                <a:lnTo>
                  <a:pt x="0" y="2220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33297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588904" y="4616652"/>
            <a:ext cx="4423241" cy="2322201"/>
          </a:xfrm>
          <a:custGeom>
            <a:avLst/>
            <a:gdLst/>
            <a:ahLst/>
            <a:cxnLst/>
            <a:rect l="l" t="t" r="r" b="b"/>
            <a:pathLst>
              <a:path w="4423241" h="2322201">
                <a:moveTo>
                  <a:pt x="0" y="0"/>
                </a:moveTo>
                <a:lnTo>
                  <a:pt x="4423241" y="0"/>
                </a:lnTo>
                <a:lnTo>
                  <a:pt x="4423241" y="2322202"/>
                </a:lnTo>
                <a:lnTo>
                  <a:pt x="0" y="23222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797341" y="1150084"/>
            <a:ext cx="13027998" cy="833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0"/>
              </a:lnSpc>
            </a:pPr>
            <a:r>
              <a:rPr lang="en-US" sz="4700" b="1" spc="235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ПОЛУЧЕНИЕ VIDEO EMBEDDING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62282" y="7616132"/>
            <a:ext cx="948245" cy="431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1"/>
              </a:lnSpc>
              <a:spcBef>
                <a:spcPct val="0"/>
              </a:spcBef>
            </a:pPr>
            <a:r>
              <a:rPr lang="en-US" sz="2565" spc="2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video</a:t>
            </a:r>
          </a:p>
        </p:txBody>
      </p:sp>
      <p:sp>
        <p:nvSpPr>
          <p:cNvPr id="16" name="TextBox 16"/>
          <p:cNvSpPr txBox="1"/>
          <p:nvPr/>
        </p:nvSpPr>
        <p:spPr>
          <a:xfrm rot="-5400000">
            <a:off x="14813203" y="5559852"/>
            <a:ext cx="3748451" cy="653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2"/>
              </a:lnSpc>
              <a:spcBef>
                <a:spcPct val="0"/>
              </a:spcBef>
            </a:pPr>
            <a:r>
              <a:rPr lang="en-US" sz="3723" b="1" spc="372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embedding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81296" y="7616132"/>
            <a:ext cx="1583036" cy="431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1"/>
              </a:lnSpc>
              <a:spcBef>
                <a:spcPct val="0"/>
              </a:spcBef>
            </a:pPr>
            <a:r>
              <a:rPr lang="en-US" sz="2565" spc="2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 images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69402" y="8377335"/>
            <a:ext cx="4483698" cy="880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1"/>
              </a:lnSpc>
            </a:pPr>
            <a:r>
              <a:rPr lang="en-US" sz="2565" spc="2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OpenCV для извлечения </a:t>
            </a:r>
          </a:p>
          <a:p>
            <a:pPr algn="ctr">
              <a:lnSpc>
                <a:spcPts val="3591"/>
              </a:lnSpc>
              <a:spcBef>
                <a:spcPct val="0"/>
              </a:spcBef>
            </a:pPr>
            <a:r>
              <a:rPr lang="en-US" sz="2565" spc="2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кадров из видео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11340" y="7808179"/>
            <a:ext cx="3325508" cy="431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1"/>
              </a:lnSpc>
              <a:spcBef>
                <a:spcPct val="0"/>
              </a:spcBef>
            </a:pPr>
            <a:r>
              <a:rPr lang="en-US" sz="2565" spc="2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Vision Transformer</a:t>
            </a:r>
          </a:p>
        </p:txBody>
      </p:sp>
      <p:sp>
        <p:nvSpPr>
          <p:cNvPr id="20" name="AutoShape 20"/>
          <p:cNvSpPr/>
          <p:nvPr/>
        </p:nvSpPr>
        <p:spPr>
          <a:xfrm flipV="1">
            <a:off x="9353822" y="5915025"/>
            <a:ext cx="10933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flipV="1">
            <a:off x="15012145" y="5792041"/>
            <a:ext cx="10933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97745" y="5143500"/>
            <a:ext cx="11892510" cy="1543050"/>
            <a:chOff x="0" y="0"/>
            <a:chExt cx="626436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64367" cy="812800"/>
            </a:xfrm>
            <a:custGeom>
              <a:avLst/>
              <a:gdLst/>
              <a:ahLst/>
              <a:cxnLst/>
              <a:rect l="l" t="t" r="r" b="b"/>
              <a:pathLst>
                <a:path w="6264367" h="812800">
                  <a:moveTo>
                    <a:pt x="0" y="0"/>
                  </a:moveTo>
                  <a:lnTo>
                    <a:pt x="6264367" y="0"/>
                  </a:lnTo>
                  <a:lnTo>
                    <a:pt x="626436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F1F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6264367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0"/>
                </a:lnSpc>
              </a:pPr>
              <a:r>
                <a:rPr lang="en-US" sz="2300" b="1" spc="230">
                  <a:solidFill>
                    <a:srgbClr val="4E6E81"/>
                  </a:solidFill>
                  <a:latin typeface="Heebo Bold"/>
                  <a:ea typeface="Heebo Bold"/>
                  <a:cs typeface="Heebo Bold"/>
                  <a:sym typeface="Heebo Bold"/>
                </a:rPr>
                <a:t>ЗДЕСЬ БУДЕТ ЗАПИСЬ РАБОТАЮЩЕЙ МОДЕЛИ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9258300"/>
            <a:ext cx="248490" cy="2484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8088" y="780210"/>
            <a:ext cx="248490" cy="2484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409575"/>
            <a:ext cx="15872082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СКРИНКАСТ</a:t>
            </a:r>
          </a:p>
        </p:txBody>
      </p:sp>
      <p:pic>
        <p:nvPicPr>
          <p:cNvPr id="13" name="tags_cast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8544" b="8858"/>
          <a:stretch/>
        </p:blipFill>
        <p:spPr>
          <a:xfrm>
            <a:off x="1143223" y="1909375"/>
            <a:ext cx="16350712" cy="76078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82226" y="945354"/>
            <a:ext cx="1452354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ОСОБЕННОСТИ РЕШЕНИЯ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82226" y="2129873"/>
            <a:ext cx="4775418" cy="107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30356" y="2129873"/>
            <a:ext cx="477541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82226" y="3966162"/>
            <a:ext cx="4775418" cy="107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30356" y="3966162"/>
            <a:ext cx="477541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82226" y="5805615"/>
            <a:ext cx="4775418" cy="107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82226" y="3275345"/>
            <a:ext cx="4775418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</a:pPr>
            <a:r>
              <a:rPr lang="en-US" sz="2299" b="1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ВОЗМОЖНОСТЬ ДЕКОМПОЗИЦИИ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30356" y="3275345"/>
            <a:ext cx="4775418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</a:pPr>
            <a:r>
              <a:rPr lang="en-US" sz="2299" b="1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ДВУХУРОВНЕВЫЙ ПОДХОД ПРЕДСКАЗАНИЯ ТЕГОВ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82226" y="5111634"/>
            <a:ext cx="4775418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</a:pPr>
            <a:r>
              <a:rPr lang="en-US" sz="2299" b="1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НИЗКАЯ ВЕРОЯТНОСТЬ ПЕРЕОБУЧЕНИЯ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30356" y="5111634"/>
            <a:ext cx="4775418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</a:pPr>
            <a:r>
              <a:rPr lang="en-US" sz="2299" b="1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ГИБКОСТЬ И МОДУЛЬНОСТЬ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82226" y="6951087"/>
            <a:ext cx="4775418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</a:pPr>
            <a:r>
              <a:rPr lang="en-US" sz="2299" b="1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ВОЗМОЖНОСТЬ РАСПРЕДЕЛЕНИЯ ВЕСОВ </a:t>
            </a:r>
          </a:p>
        </p:txBody>
      </p:sp>
      <p:sp>
        <p:nvSpPr>
          <p:cNvPr id="13" name="AutoShape 13"/>
          <p:cNvSpPr/>
          <p:nvPr/>
        </p:nvSpPr>
        <p:spPr>
          <a:xfrm>
            <a:off x="9144000" y="5967540"/>
            <a:ext cx="28575" cy="4319460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7259300" y="9258300"/>
            <a:ext cx="248490" cy="24849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0210" y="780210"/>
            <a:ext cx="248490" cy="24849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82226" y="945354"/>
            <a:ext cx="14523548" cy="108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ЧТО МОЖНО УЛУЧШИТЬ?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82226" y="2129873"/>
            <a:ext cx="4775418" cy="107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30356" y="2129873"/>
            <a:ext cx="477541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82226" y="3966162"/>
            <a:ext cx="4775418" cy="107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82226" y="3275345"/>
            <a:ext cx="4775418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</a:pPr>
            <a:r>
              <a:rPr lang="en-US" sz="2299" b="1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SPEECH RECOGNITION IN AUDIO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30356" y="3275345"/>
            <a:ext cx="4775418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</a:pPr>
            <a:r>
              <a:rPr lang="en-US" sz="2299" b="1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ИСПОЛЬЗОВАНИЕ ИЕРАРХИЧЕСКОЙ НЕЙРОННОЙ СЕТИ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82226" y="5111634"/>
            <a:ext cx="4775418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</a:pPr>
            <a:r>
              <a:rPr lang="en-US" sz="2299" b="1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ОБОГАЩЕНИЕ ИЕРАХИИ КЛАССОВ</a:t>
            </a:r>
          </a:p>
        </p:txBody>
      </p:sp>
      <p:sp>
        <p:nvSpPr>
          <p:cNvPr id="9" name="AutoShape 9"/>
          <p:cNvSpPr/>
          <p:nvPr/>
        </p:nvSpPr>
        <p:spPr>
          <a:xfrm>
            <a:off x="9144000" y="5967540"/>
            <a:ext cx="28575" cy="4319460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7259300" y="9258300"/>
            <a:ext cx="248490" cy="24849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0210" y="780210"/>
            <a:ext cx="248490" cy="24849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630356" y="4663885"/>
            <a:ext cx="4775418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30356" y="5809357"/>
            <a:ext cx="4775418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</a:pPr>
            <a:r>
              <a:rPr lang="en-US" sz="2299" b="1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Обучение на больших данных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9009810"/>
            <a:ext cx="248490" cy="2484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10810" y="1028700"/>
            <a:ext cx="248490" cy="2484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H="1">
            <a:off x="1033463" y="0"/>
            <a:ext cx="0" cy="3334176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7608179" y="3710816"/>
            <a:ext cx="9651121" cy="5064079"/>
          </a:xfrm>
          <a:custGeom>
            <a:avLst/>
            <a:gdLst/>
            <a:ahLst/>
            <a:cxnLst/>
            <a:rect l="l" t="t" r="r" b="b"/>
            <a:pathLst>
              <a:path w="9651121" h="5064079">
                <a:moveTo>
                  <a:pt x="0" y="0"/>
                </a:moveTo>
                <a:lnTo>
                  <a:pt x="9651121" y="0"/>
                </a:lnTo>
                <a:lnTo>
                  <a:pt x="9651121" y="5064079"/>
                </a:lnTo>
                <a:lnTo>
                  <a:pt x="0" y="5064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321" t="-16280" b="-409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79470" y="981495"/>
            <a:ext cx="15529061" cy="1231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</a:pPr>
            <a:r>
              <a:rPr lang="en-US" sz="6999" b="1" spc="349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METRICS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30709" y="4334694"/>
            <a:ext cx="5320243" cy="158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477"/>
              </a:lnSpc>
            </a:pPr>
            <a:r>
              <a:rPr lang="en-US" sz="8912" b="1" spc="445">
                <a:solidFill>
                  <a:srgbClr val="A79E9C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30709" y="5935020"/>
            <a:ext cx="5320243" cy="131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562" b="1" spc="256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0.47 НА ВАЛИДАЦИОННОЙ ВЫБОРКЕ</a:t>
            </a:r>
          </a:p>
          <a:p>
            <a:pPr marL="0" lvl="0" indent="0" algn="ctr">
              <a:lnSpc>
                <a:spcPts val="3587"/>
              </a:lnSpc>
            </a:pPr>
            <a:endParaRPr lang="en-US" sz="2562" b="1" spc="256">
              <a:solidFill>
                <a:srgbClr val="4E6E81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44078" y="1326430"/>
            <a:ext cx="21203378" cy="7634140"/>
            <a:chOff x="0" y="0"/>
            <a:chExt cx="1128752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28752" cy="406400"/>
            </a:xfrm>
            <a:custGeom>
              <a:avLst/>
              <a:gdLst/>
              <a:ahLst/>
              <a:cxnLst/>
              <a:rect l="l" t="t" r="r" b="b"/>
              <a:pathLst>
                <a:path w="1128752" h="406400">
                  <a:moveTo>
                    <a:pt x="925552" y="0"/>
                  </a:moveTo>
                  <a:cubicBezTo>
                    <a:pt x="1037776" y="0"/>
                    <a:pt x="1128752" y="90976"/>
                    <a:pt x="1128752" y="203200"/>
                  </a:cubicBezTo>
                  <a:cubicBezTo>
                    <a:pt x="1128752" y="315424"/>
                    <a:pt x="1037776" y="406400"/>
                    <a:pt x="925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2875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9009810"/>
            <a:ext cx="248490" cy="24849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010810" y="1028700"/>
            <a:ext cx="248490" cy="24849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4584" y="5525382"/>
            <a:ext cx="3086100" cy="804358"/>
            <a:chOff x="0" y="0"/>
            <a:chExt cx="812800" cy="2118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211847"/>
            </a:xfrm>
            <a:custGeom>
              <a:avLst/>
              <a:gdLst/>
              <a:ahLst/>
              <a:cxnLst/>
              <a:rect l="l" t="t" r="r" b="b"/>
              <a:pathLst>
                <a:path w="812800" h="211847">
                  <a:moveTo>
                    <a:pt x="50173" y="0"/>
                  </a:moveTo>
                  <a:lnTo>
                    <a:pt x="762627" y="0"/>
                  </a:lnTo>
                  <a:cubicBezTo>
                    <a:pt x="775934" y="0"/>
                    <a:pt x="788695" y="5286"/>
                    <a:pt x="798105" y="14695"/>
                  </a:cubicBezTo>
                  <a:cubicBezTo>
                    <a:pt x="807514" y="24105"/>
                    <a:pt x="812800" y="36866"/>
                    <a:pt x="812800" y="50173"/>
                  </a:cubicBezTo>
                  <a:lnTo>
                    <a:pt x="812800" y="161675"/>
                  </a:lnTo>
                  <a:cubicBezTo>
                    <a:pt x="812800" y="174981"/>
                    <a:pt x="807514" y="187743"/>
                    <a:pt x="798105" y="197152"/>
                  </a:cubicBezTo>
                  <a:cubicBezTo>
                    <a:pt x="788695" y="206561"/>
                    <a:pt x="775934" y="211847"/>
                    <a:pt x="762627" y="211847"/>
                  </a:cubicBezTo>
                  <a:lnTo>
                    <a:pt x="50173" y="211847"/>
                  </a:lnTo>
                  <a:cubicBezTo>
                    <a:pt x="36866" y="211847"/>
                    <a:pt x="24105" y="206561"/>
                    <a:pt x="14695" y="197152"/>
                  </a:cubicBezTo>
                  <a:cubicBezTo>
                    <a:pt x="5286" y="187743"/>
                    <a:pt x="0" y="174981"/>
                    <a:pt x="0" y="161675"/>
                  </a:cubicBezTo>
                  <a:lnTo>
                    <a:pt x="0" y="50173"/>
                  </a:lnTo>
                  <a:cubicBezTo>
                    <a:pt x="0" y="36866"/>
                    <a:pt x="5286" y="24105"/>
                    <a:pt x="14695" y="14695"/>
                  </a:cubicBezTo>
                  <a:cubicBezTo>
                    <a:pt x="24105" y="5286"/>
                    <a:pt x="36866" y="0"/>
                    <a:pt x="50173" y="0"/>
                  </a:cubicBezTo>
                  <a:close/>
                </a:path>
              </a:pathLst>
            </a:custGeom>
            <a:solidFill>
              <a:srgbClr val="4E6E8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259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spc="219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29 Sep, 2024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3962483" y="5525382"/>
            <a:ext cx="3048328" cy="3780872"/>
          </a:xfrm>
          <a:custGeom>
            <a:avLst/>
            <a:gdLst/>
            <a:ahLst/>
            <a:cxnLst/>
            <a:rect l="l" t="t" r="r" b="b"/>
            <a:pathLst>
              <a:path w="3048328" h="3780872">
                <a:moveTo>
                  <a:pt x="0" y="0"/>
                </a:moveTo>
                <a:lnTo>
                  <a:pt x="3048327" y="0"/>
                </a:lnTo>
                <a:lnTo>
                  <a:pt x="3048327" y="3780871"/>
                </a:lnTo>
                <a:lnTo>
                  <a:pt x="0" y="3780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594753" y="4291201"/>
            <a:ext cx="3416057" cy="1268211"/>
          </a:xfrm>
          <a:custGeom>
            <a:avLst/>
            <a:gdLst/>
            <a:ahLst/>
            <a:cxnLst/>
            <a:rect l="l" t="t" r="r" b="b"/>
            <a:pathLst>
              <a:path w="3416057" h="1268211">
                <a:moveTo>
                  <a:pt x="0" y="0"/>
                </a:moveTo>
                <a:lnTo>
                  <a:pt x="3416057" y="0"/>
                </a:lnTo>
                <a:lnTo>
                  <a:pt x="3416057" y="1268211"/>
                </a:lnTo>
                <a:lnTo>
                  <a:pt x="0" y="126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76763" y="2869151"/>
            <a:ext cx="12371749" cy="2056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238"/>
              </a:lnSpc>
            </a:pPr>
            <a:r>
              <a:rPr lang="en-US" sz="11598" b="1" spc="579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THANK YOU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1759" y="2145588"/>
            <a:ext cx="123717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spc="23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ноу токс group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210" y="780210"/>
            <a:ext cx="248490" cy="2484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80210" y="1520908"/>
            <a:ext cx="16795102" cy="7737392"/>
          </a:xfrm>
          <a:custGeom>
            <a:avLst/>
            <a:gdLst/>
            <a:ahLst/>
            <a:cxnLst/>
            <a:rect l="l" t="t" r="r" b="b"/>
            <a:pathLst>
              <a:path w="16795102" h="7737392">
                <a:moveTo>
                  <a:pt x="0" y="0"/>
                </a:moveTo>
                <a:lnTo>
                  <a:pt x="16795102" y="0"/>
                </a:lnTo>
                <a:lnTo>
                  <a:pt x="16795102" y="7737392"/>
                </a:lnTo>
                <a:lnTo>
                  <a:pt x="0" y="7737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6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585995" y="9258300"/>
            <a:ext cx="11989317" cy="565214"/>
          </a:xfrm>
          <a:custGeom>
            <a:avLst/>
            <a:gdLst/>
            <a:ahLst/>
            <a:cxnLst/>
            <a:rect l="l" t="t" r="r" b="b"/>
            <a:pathLst>
              <a:path w="11989317" h="565214">
                <a:moveTo>
                  <a:pt x="0" y="0"/>
                </a:moveTo>
                <a:lnTo>
                  <a:pt x="11989317" y="0"/>
                </a:lnTo>
                <a:lnTo>
                  <a:pt x="11989317" y="565214"/>
                </a:lnTo>
                <a:lnTo>
                  <a:pt x="0" y="565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871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489157" y="6586777"/>
            <a:ext cx="8834775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DATA EXPLORATION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7218" y="684960"/>
            <a:ext cx="15872082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</a:pPr>
            <a:r>
              <a:rPr lang="en-US" sz="3400" b="1" spc="17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ГИСТОГРАММА РАСПРЕДЕЛЕНИЯ ТЕГОВ 1 УРОВНЯ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210" y="780210"/>
            <a:ext cx="248490" cy="2484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00553" y="3188487"/>
            <a:ext cx="17086894" cy="5078699"/>
          </a:xfrm>
          <a:custGeom>
            <a:avLst/>
            <a:gdLst/>
            <a:ahLst/>
            <a:cxnLst/>
            <a:rect l="l" t="t" r="r" b="b"/>
            <a:pathLst>
              <a:path w="17086894" h="5078699">
                <a:moveTo>
                  <a:pt x="0" y="0"/>
                </a:moveTo>
                <a:lnTo>
                  <a:pt x="17086894" y="0"/>
                </a:lnTo>
                <a:lnTo>
                  <a:pt x="17086894" y="5078699"/>
                </a:lnTo>
                <a:lnTo>
                  <a:pt x="0" y="50786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06" t="-1636" r="-11873" b="-109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550545" y="618285"/>
            <a:ext cx="12749214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DATA EXPLORATION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11886" y="2248190"/>
            <a:ext cx="13864229" cy="500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2"/>
              </a:lnSpc>
            </a:pPr>
            <a:r>
              <a:rPr lang="en-US" sz="2787" b="1" spc="139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ГИСТОГРАММА УНИКАЛЬНЫХ ТЕГОВ КАЖДОГО УРОВНЯ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657" y="8478873"/>
            <a:ext cx="3918108" cy="77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62"/>
              </a:lnSpc>
            </a:pPr>
            <a:r>
              <a:rPr lang="en-US" sz="2187" b="1" spc="109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УНИКАЛЬНЫХ ТЕГОВ 1 УРОВНЯ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72386" y="8478873"/>
            <a:ext cx="3918108" cy="77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62"/>
              </a:lnSpc>
            </a:pPr>
            <a:r>
              <a:rPr lang="en-US" sz="2187" b="1" spc="109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УНИКАЛЬНЫХ ТЕГОВ 3 УРОВНЯ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47498" y="8478873"/>
            <a:ext cx="3918108" cy="77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62"/>
              </a:lnSpc>
            </a:pPr>
            <a:r>
              <a:rPr lang="en-US" sz="2187" b="1" spc="109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УНИКАЛЬНЫХ ТЕГОВ 2 УРОВНЯ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239</Words>
  <Application>Microsoft Office PowerPoint</Application>
  <PresentationFormat>Произвольный</PresentationFormat>
  <Paragraphs>88</Paragraphs>
  <Slides>14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Calibri</vt:lpstr>
      <vt:lpstr>Helios Extended Bold</vt:lpstr>
      <vt:lpstr>Lato</vt:lpstr>
      <vt:lpstr>Heebo Bold</vt:lpstr>
      <vt:lpstr>Arial</vt:lpstr>
      <vt:lpstr>Lato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ноу токс group генерация тегов</dc:title>
  <dc:creator>Alina Salimova</dc:creator>
  <cp:lastModifiedBy>Alina Salimova</cp:lastModifiedBy>
  <cp:revision>3</cp:revision>
  <dcterms:created xsi:type="dcterms:W3CDTF">2006-08-16T00:00:00Z</dcterms:created>
  <dcterms:modified xsi:type="dcterms:W3CDTF">2024-09-29T03:09:09Z</dcterms:modified>
  <dc:identifier>DAGR3c4vSEc</dc:identifier>
</cp:coreProperties>
</file>